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0" r:id="rId6"/>
    <p:sldId id="261" r:id="rId7"/>
    <p:sldId id="262" r:id="rId8"/>
    <p:sldId id="264" r:id="rId9"/>
    <p:sldId id="258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T</a:t>
            </a:r>
            <a:r>
              <a:rPr lang="en-US" altLang="zh-CN"/>
              <a:t>ips on Group Project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9225" y="51435"/>
            <a:ext cx="10515600" cy="1325563"/>
          </a:xfrm>
        </p:spPr>
        <p:txBody>
          <a:bodyPr/>
          <a:p>
            <a:r>
              <a:rPr lang="en-US" altLang="zh-CN"/>
              <a:t>Make the reported data explainable</a:t>
            </a:r>
            <a:endParaRPr lang="en-US" altLang="zh-CN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099300" y="1101725"/>
            <a:ext cx="4247515" cy="52292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66395" y="1202055"/>
            <a:ext cx="634873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u="sng"/>
              <a:t>A typical case is the Required Output (the table) in Task A</a:t>
            </a:r>
            <a:endParaRPr lang="en-US" altLang="zh-CN" sz="2000" u="sng"/>
          </a:p>
          <a:p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Better to tell us </a:t>
            </a:r>
            <a:r>
              <a:rPr lang="en-US" altLang="zh-CN" sz="2000" b="1"/>
              <a:t>how</a:t>
            </a:r>
            <a:r>
              <a:rPr lang="en-US" altLang="zh-CN" sz="2000"/>
              <a:t> you get the times in the table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/>
              <a:t>Repeated Testing for the average </a:t>
            </a:r>
            <a:endParaRPr lang="en-US" altLang="zh-CN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/>
              <a:t>Warm-up tests to reduce the measurement noises (Java programs may run more slowly at the beginning due to JVM initialization, class loading, ect)</a:t>
            </a:r>
            <a:endParaRPr lang="en-US" altLang="zh-CN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/>
              <a:t>Rounding for readability (2 decimals , 3 decimals, etc)</a:t>
            </a:r>
            <a:endParaRPr lang="en-US" altLang="zh-CN" sz="2000"/>
          </a:p>
          <a:p>
            <a:pPr lvl="1" indent="0">
              <a:buFont typeface="Arial" panose="020B0604020202020204" pitchFamily="34" charset="0"/>
              <a:buNone/>
            </a:pPr>
            <a:r>
              <a:rPr lang="en-US" altLang="zh-CN" sz="2000"/>
              <a:t> </a:t>
            </a:r>
            <a:endParaRPr lang="en-US" altLang="zh-CN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1925" y="161290"/>
            <a:ext cx="10515600" cy="1325563"/>
          </a:xfrm>
        </p:spPr>
        <p:txBody>
          <a:bodyPr/>
          <a:p>
            <a:r>
              <a:rPr lang="en-US" altLang="zh-CN"/>
              <a:t>Pay attention to the follow-ups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94945" y="1283335"/>
            <a:ext cx="656399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None/>
            </a:pPr>
            <a:r>
              <a:rPr lang="en-US" altLang="zh-CN"/>
              <a:t>In the task sheet, we have many follow-up questions, for examples:</a:t>
            </a:r>
            <a:endParaRPr lang="en-US" altLang="zh-CN"/>
          </a:p>
          <a:p>
            <a:pPr indent="0">
              <a:buNone/>
            </a:pP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What alternative graph algorithms could be considered if the graph were unweighted? </a:t>
            </a:r>
            <a:r>
              <a:rPr lang="en-US" altLang="zh-CN" b="1">
                <a:sym typeface="+mn-ea"/>
              </a:rPr>
              <a:t>How might they compare with your current choice?</a:t>
            </a:r>
            <a:endParaRPr lang="en-US" altLang="zh-CN" b="1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Which sorting algorithm behaves most consistently across the three datasets? </a:t>
            </a:r>
            <a:r>
              <a:rPr lang="en-US" altLang="zh-CN" b="1">
                <a:sym typeface="+mn-ea"/>
              </a:rPr>
              <a:t>Why?</a:t>
            </a:r>
            <a:endParaRPr lang="en-US" altLang="zh-CN" b="1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b="1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If you were allowed to use only one sorting algorithm in the final system, </a:t>
            </a:r>
            <a:r>
              <a:rPr lang="en-US" altLang="zh-CN" b="1">
                <a:sym typeface="+mn-ea"/>
              </a:rPr>
              <a:t>would you choose the one with the best average runtime, the most stable behaviour, or the simplest implementation? Why?</a:t>
            </a:r>
            <a:endParaRPr lang="en-US" altLang="zh-CN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b="1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The follow-ups are actually the main part of the such questions.</a:t>
            </a:r>
            <a:endParaRPr lang="en-US" altLang="zh-CN"/>
          </a:p>
          <a:p>
            <a:pPr lvl="1" indent="0">
              <a:buFont typeface="Arial" panose="020B0604020202020204" pitchFamily="34" charset="0"/>
              <a:buNone/>
            </a:pP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4720" y="619760"/>
            <a:ext cx="4421505" cy="5708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0830" y="240030"/>
            <a:ext cx="10515600" cy="1325563"/>
          </a:xfrm>
        </p:spPr>
        <p:txBody>
          <a:bodyPr/>
          <a:p>
            <a:r>
              <a:rPr lang="en-US" altLang="zh-CN"/>
              <a:t>Exploratory questions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404495" y="1321435"/>
            <a:ext cx="530098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 the task sheet, we have some questions regarding the assumptive conditions, for example:</a:t>
            </a:r>
            <a:endParaRPr lang="en-US" altLang="zh-CN"/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u="sng"/>
              <a:t>If both runtime efficiency and memory usage are considered</a:t>
            </a:r>
            <a:r>
              <a:rPr lang="en-US" altLang="zh-CN"/>
              <a:t>, how would your algorithm choice be affected?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What alternative graph algorithms or route-planning approaches might become more suitable </a:t>
            </a:r>
            <a:r>
              <a:rPr lang="en-US" altLang="zh-CN" u="sng"/>
              <a:t>if the graph became much larger, or if node coordinates were available? </a:t>
            </a:r>
            <a:r>
              <a:rPr lang="en-US" altLang="zh-CN"/>
              <a:t>Discuss their possible advantages and limitations.</a:t>
            </a: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This is where we need to do some </a:t>
            </a:r>
            <a:r>
              <a:rPr lang="en-US" altLang="zh-CN" b="1"/>
              <a:t>self-studies</a:t>
            </a:r>
            <a:r>
              <a:rPr lang="en-US" altLang="zh-CN"/>
              <a:t> (e.g., the space complexity). For the alternative graph algorithms, implementation is </a:t>
            </a:r>
            <a:r>
              <a:rPr lang="en-US" altLang="zh-CN" b="1"/>
              <a:t>NOT</a:t>
            </a:r>
            <a:r>
              <a:rPr lang="en-US" altLang="zh-CN"/>
              <a:t> necessary.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4435" y="451485"/>
            <a:ext cx="5181600" cy="5603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2885" y="226060"/>
            <a:ext cx="10515600" cy="1325563"/>
          </a:xfrm>
        </p:spPr>
        <p:txBody>
          <a:bodyPr/>
          <a:p>
            <a:r>
              <a:rPr lang="en-US" altLang="zh-CN"/>
              <a:t>Screenshots and UMLs help 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331470" y="1318260"/>
            <a:ext cx="4942205" cy="4779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Especially in Task C, we require you to illustrate the design of the program with questions like:</a:t>
            </a:r>
            <a:endParaRPr lang="en-US" altLang="zh-CN"/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What classes did you use in your application?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How do these classes and functions collaborate to complete the whole inspection workflow?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How are these principles applied specifically? For example, how did you use polymorphism to support different behaviours through a common interface or abstraction?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Code screenshots and UML can really help us understand your design.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2390" y="1189355"/>
            <a:ext cx="6790690" cy="5313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7500" y="226060"/>
            <a:ext cx="10515600" cy="1325563"/>
          </a:xfrm>
        </p:spPr>
        <p:txBody>
          <a:bodyPr/>
          <a:p>
            <a:r>
              <a:rPr lang="en-US" altLang="zh-CN"/>
              <a:t>AI MAN tool Usage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443865" y="1372235"/>
            <a:ext cx="575945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For the usage of AI-assisted Software Management tool, a </a:t>
            </a:r>
            <a:r>
              <a:rPr lang="en-US" altLang="zh-CN" sz="2400" b="1"/>
              <a:t>screenshot</a:t>
            </a:r>
            <a:r>
              <a:rPr lang="en-US" altLang="zh-CN" sz="2400"/>
              <a:t> of the schedule/planning page is needed.</a:t>
            </a:r>
            <a:endParaRPr lang="en-US" altLang="zh-CN" sz="2400"/>
          </a:p>
          <a:p>
            <a:endParaRPr lang="en-US" altLang="zh-CN" sz="2400"/>
          </a:p>
          <a:p>
            <a:r>
              <a:rPr lang="en-US" altLang="zh-CN" sz="2400"/>
              <a:t>After the proof (screenshot), please also add </a:t>
            </a:r>
            <a:r>
              <a:rPr lang="en-US" altLang="zh-CN" sz="2400">
                <a:sym typeface="+mn-ea"/>
              </a:rPr>
              <a:t>the </a:t>
            </a:r>
            <a:r>
              <a:rPr lang="en-US" altLang="zh-CN" sz="2400" b="1">
                <a:sym typeface="+mn-ea"/>
              </a:rPr>
              <a:t>description</a:t>
            </a:r>
            <a:r>
              <a:rPr lang="en-US" altLang="zh-CN" sz="2400">
                <a:sym typeface="+mn-ea"/>
              </a:rPr>
              <a:t> (e.g., why you planned like so, how did you do the task allocation, how did you collaborate, ect). </a:t>
            </a:r>
            <a:endParaRPr lang="en-US" altLang="zh-CN" sz="240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1215" y="332105"/>
            <a:ext cx="4553585" cy="6076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9315" y="2685415"/>
            <a:ext cx="10515600" cy="1325563"/>
          </a:xfrm>
        </p:spPr>
        <p:txBody>
          <a:bodyPr>
            <a:noAutofit/>
          </a:bodyPr>
          <a:p>
            <a:pPr algn="ctr"/>
            <a:r>
              <a:rPr lang="en-US" altLang="zh-CN" sz="4800"/>
              <a:t>Note that </a:t>
            </a:r>
            <a:r>
              <a:rPr lang="en-US" altLang="zh-CN" sz="4800" b="1"/>
              <a:t>none</a:t>
            </a:r>
            <a:r>
              <a:rPr lang="en-US" altLang="zh-CN" sz="4800"/>
              <a:t> of the following examples is mandatory for the project</a:t>
            </a:r>
            <a:br>
              <a:rPr lang="en-US" altLang="zh-CN" sz="4800"/>
            </a:br>
            <a:br>
              <a:rPr lang="en-US" altLang="zh-CN" sz="4800"/>
            </a:br>
            <a:endParaRPr lang="en-US" altLang="zh-CN" sz="4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035" y="108585"/>
            <a:ext cx="10515600" cy="1325563"/>
          </a:xfrm>
        </p:spPr>
        <p:txBody>
          <a:bodyPr/>
          <a:p>
            <a:r>
              <a:rPr lang="en-US" altLang="zh-CN"/>
              <a:t>Icing on the cake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35915" y="1045210"/>
            <a:ext cx="652780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 sz="2000"/>
          </a:p>
          <a:p>
            <a:r>
              <a:rPr lang="en-US" altLang="zh-CN" sz="2000"/>
              <a:t>If you REALLY like to try some fancy moves:</a:t>
            </a:r>
            <a:endParaRPr lang="en-US" altLang="zh-CN" sz="2000"/>
          </a:p>
          <a:p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Using statistical figures for questions requiring comparisions (e.g., the efficiency / cost of the algorithms in use)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Visualizing the graph outcome (JavaFX, Swing, AWT are allowed) 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Actual implementation of the extra algorithms</a:t>
            </a:r>
            <a:endParaRPr lang="en-US" altLang="zh-CN" sz="2000"/>
          </a:p>
        </p:txBody>
      </p:sp>
      <p:pic>
        <p:nvPicPr>
          <p:cNvPr id="7" name="内容占位符 6"/>
          <p:cNvPicPr>
            <a:picLocks noChangeAspect="1"/>
          </p:cNvPicPr>
          <p:nvPr>
            <p:ph idx="1"/>
          </p:nvPr>
        </p:nvPicPr>
        <p:blipFill>
          <a:blip r:embed="rId1"/>
          <a:srcRect l="4646" t="24514" r="59969" b="26628"/>
          <a:stretch>
            <a:fillRect/>
          </a:stretch>
        </p:blipFill>
        <p:spPr>
          <a:xfrm>
            <a:off x="7720330" y="791845"/>
            <a:ext cx="2621280" cy="1679575"/>
          </a:xfrm>
          <a:prstGeom prst="rect">
            <a:avLst/>
          </a:prstGeom>
        </p:spPr>
      </p:pic>
      <p:pic>
        <p:nvPicPr>
          <p:cNvPr id="1151135947" name="图片 1" descr="图表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245" y="2771775"/>
            <a:ext cx="2581910" cy="16294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600" y="4916170"/>
            <a:ext cx="2489200" cy="15322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13690" y="5892800"/>
            <a:ext cx="6827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More effort often leads to higher marks, but please manage your time wisely across different modules and assignments.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5105" y="212725"/>
            <a:ext cx="10515600" cy="1325563"/>
          </a:xfrm>
        </p:spPr>
        <p:txBody>
          <a:bodyPr/>
          <a:p>
            <a:r>
              <a:rPr lang="en-US" altLang="zh-CN"/>
              <a:t>Reminders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354330" y="1237615"/>
            <a:ext cx="11531600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4 files: a ZIP containing all of the code, a Word report, a MP4 video (max time 8 mins, max size 250M now), a PPT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Deadline: 24th May, 23:59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Do have a cover page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Page limit: 20 pages (only for Chaper 1-4). More contents go to Appendix.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Copy and paste the code in Chapter 5, </a:t>
            </a:r>
            <a:r>
              <a:rPr lang="en-US" altLang="zh-CN">
                <a:solidFill>
                  <a:srgbClr val="FF0000"/>
                </a:solidFill>
              </a:rPr>
              <a:t>NO</a:t>
            </a:r>
            <a:r>
              <a:rPr lang="en-US" altLang="zh-CN"/>
              <a:t> screenshots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Please contribute equally. The max mark one can get is the mark the submission should have.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Both of the team members should appear in the video, presenting roughly equal amount of time (~4 minutes)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Reusing the provided codes (e.g., the sorting/grahp algorithm codes) is allowed, but think critically.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Only one teammate need to submit the work (the 4 files).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Feel free to come to office hour with any question. In-person talk (with your report/codes) is more efficient.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3546</Words>
  <Application>WPS 演示</Application>
  <PresentationFormat>宽屏</PresentationFormat>
  <Paragraphs>100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SimSun</vt:lpstr>
      <vt:lpstr>Wingdings</vt:lpstr>
      <vt:lpstr>Arial Unicode MS</vt:lpstr>
      <vt:lpstr>Calibri</vt:lpstr>
      <vt:lpstr>Microsoft YaHei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Yihong Wang</dc:creator>
  <cp:lastModifiedBy>王懿鸿</cp:lastModifiedBy>
  <cp:revision>6</cp:revision>
  <dcterms:created xsi:type="dcterms:W3CDTF">2023-08-09T12:44:00Z</dcterms:created>
  <dcterms:modified xsi:type="dcterms:W3CDTF">2026-05-13T05:55:34Z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FB22BA65B7AA43CD91F745C7F2995C5F_12</vt:lpwstr>
  </property>
</Properties>
</file>